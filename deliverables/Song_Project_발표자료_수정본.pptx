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24612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32461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5E6C4"/>
                </a:solidFill>
                <a:latin typeface="Pretendard"/>
              </a:rPr>
              <a:t>GRADUATION PROJECT · WEB MUSIC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5852160" cy="1600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6FAFF"/>
                </a:solidFill>
                <a:latin typeface="Pretendard"/>
              </a:rPr>
              <a:t>아이디어가
곡이 되는 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44368"/>
            <a:ext cx="4389120" cy="56692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65E6C4"/>
                </a:solidFill>
                <a:latin typeface="Pretendard"/>
              </a:rPr>
              <a:t>Song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547872"/>
            <a:ext cx="5166360" cy="56692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9EABC0"/>
                </a:solidFill>
                <a:latin typeface="Pretendard"/>
              </a:rPr>
              <a:t>작곡 · 협업 · 공유 · 에어 악기를 하나의 웹 작업실에서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1968" y="658368"/>
            <a:ext cx="4919472" cy="544068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33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3720" y="960120"/>
            <a:ext cx="4315968" cy="4206240"/>
          </a:xfrm>
          <a:prstGeom prst="roundRect">
            <a:avLst/>
          </a:prstGeom>
          <a:solidFill>
            <a:srgbClr val="0D1420"/>
          </a:solidFill>
          <a:ln w="10160">
            <a:solidFill>
              <a:srgbClr val="33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03720" y="960120"/>
            <a:ext cx="4315968" cy="329184"/>
          </a:xfrm>
          <a:prstGeom prst="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68312" y="1069848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1192" y="1069848"/>
            <a:ext cx="73152" cy="7315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34071" y="1069848"/>
            <a:ext cx="73152" cy="73152"/>
          </a:xfrm>
          <a:prstGeom prst="ellipse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005840"/>
            <a:ext cx="2852927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9EABC0"/>
                </a:solidFill>
                <a:latin typeface="Pretendard"/>
              </a:rPr>
              <a:t>Song Project / Composer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435608"/>
            <a:ext cx="64008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65E6C4"/>
                </a:solidFill>
                <a:latin typeface="Pretendard"/>
              </a:rPr>
              <a:t>멜로디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68312" y="1783080"/>
            <a:ext cx="438912" cy="228600"/>
          </a:xfrm>
          <a:prstGeom prst="rect">
            <a:avLst/>
          </a:prstGeom>
          <a:solidFill>
            <a:srgbClr val="10151E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62088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2244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42401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82558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22715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62872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3028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43185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83342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23499" y="17830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68312" y="2154555"/>
            <a:ext cx="438912" cy="228600"/>
          </a:xfrm>
          <a:prstGeom prst="rect">
            <a:avLst/>
          </a:prstGeom>
          <a:solidFill>
            <a:srgbClr val="E8EEF6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62088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2244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42401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82558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22715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62872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3028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43185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3342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23499" y="215455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68312" y="2526030"/>
            <a:ext cx="438912" cy="228600"/>
          </a:xfrm>
          <a:prstGeom prst="rect">
            <a:avLst/>
          </a:prstGeom>
          <a:solidFill>
            <a:srgbClr val="10151E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62088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2244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42401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82558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22715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62872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03028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43185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283342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623499" y="252603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68312" y="2897505"/>
            <a:ext cx="438912" cy="228600"/>
          </a:xfrm>
          <a:prstGeom prst="rect">
            <a:avLst/>
          </a:prstGeom>
          <a:solidFill>
            <a:srgbClr val="E8EEF6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62088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02244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2401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82558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22715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62872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03028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43185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83342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623499" y="2897505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68312" y="3268980"/>
            <a:ext cx="438912" cy="228600"/>
          </a:xfrm>
          <a:prstGeom prst="rect">
            <a:avLst/>
          </a:prstGeom>
          <a:solidFill>
            <a:srgbClr val="10151E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62088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02244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42401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82558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22715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62872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603028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43185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283342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623499" y="3268980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68312" y="3640454"/>
            <a:ext cx="438912" cy="228600"/>
          </a:xfrm>
          <a:prstGeom prst="rect">
            <a:avLst/>
          </a:prstGeom>
          <a:solidFill>
            <a:srgbClr val="E8EEF6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562088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902244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42401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82558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22715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262872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603028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943185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283342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623499" y="364045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68312" y="4011929"/>
            <a:ext cx="438912" cy="228600"/>
          </a:xfrm>
          <a:prstGeom prst="rect">
            <a:avLst/>
          </a:prstGeom>
          <a:solidFill>
            <a:srgbClr val="10151E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2088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902244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42401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82558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922715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262872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603028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943185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283342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623499" y="4011929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068312" y="4383404"/>
            <a:ext cx="438912" cy="228600"/>
          </a:xfrm>
          <a:prstGeom prst="rect">
            <a:avLst/>
          </a:prstGeom>
          <a:solidFill>
            <a:srgbClr val="E8EEF6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62088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902244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242401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82558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2715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262872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603028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943185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283342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623499" y="4383404"/>
            <a:ext cx="340156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902244" y="2553462"/>
            <a:ext cx="993038" cy="17373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582558" y="3667886"/>
            <a:ext cx="652881" cy="17373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9262872" y="4410837"/>
            <a:ext cx="652881" cy="17373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9943185" y="3296412"/>
            <a:ext cx="993038" cy="17373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589520" y="4914656"/>
            <a:ext cx="50337" cy="4620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694390" y="4879292"/>
            <a:ext cx="50337" cy="11693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799260" y="4916069"/>
            <a:ext cx="50337" cy="4338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904130" y="4910715"/>
            <a:ext cx="50337" cy="5408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009001" y="4911270"/>
            <a:ext cx="50337" cy="5297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113871" y="4871111"/>
            <a:ext cx="50337" cy="133297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218741" y="4901568"/>
            <a:ext cx="50337" cy="7238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323611" y="4871721"/>
            <a:ext cx="50337" cy="13207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8428482" y="4906008"/>
            <a:ext cx="50337" cy="6350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533352" y="4910071"/>
            <a:ext cx="50337" cy="5537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8638222" y="4911412"/>
            <a:ext cx="50337" cy="5269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8743092" y="4884937"/>
            <a:ext cx="50337" cy="10564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8847963" y="4891249"/>
            <a:ext cx="50337" cy="9302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952833" y="4872700"/>
            <a:ext cx="50337" cy="13011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9057703" y="4891835"/>
            <a:ext cx="50337" cy="9184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9162573" y="4897945"/>
            <a:ext cx="50337" cy="79628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9267444" y="4917932"/>
            <a:ext cx="50337" cy="3965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9372314" y="4901114"/>
            <a:ext cx="50337" cy="7329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9477184" y="4887505"/>
            <a:ext cx="50337" cy="10050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9582054" y="4881441"/>
            <a:ext cx="50337" cy="11263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9686925" y="4878039"/>
            <a:ext cx="50337" cy="11944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9791795" y="4893538"/>
            <a:ext cx="50337" cy="8844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9896665" y="4903479"/>
            <a:ext cx="50337" cy="6856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10001535" y="4914988"/>
            <a:ext cx="50337" cy="4554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0106406" y="4892169"/>
            <a:ext cx="50337" cy="9118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0211276" y="4894853"/>
            <a:ext cx="50337" cy="8581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0316146" y="4869051"/>
            <a:ext cx="50337" cy="13741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0421016" y="4897475"/>
            <a:ext cx="50337" cy="8056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0525887" y="4886835"/>
            <a:ext cx="50337" cy="10184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630757" y="4915001"/>
            <a:ext cx="50337" cy="4551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735627" y="4904541"/>
            <a:ext cx="50337" cy="66437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10840497" y="4908487"/>
            <a:ext cx="50337" cy="5854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7223760" y="5538209"/>
            <a:ext cx="44439" cy="97548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316343" y="5463551"/>
            <a:ext cx="44439" cy="24686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7408926" y="5541192"/>
            <a:ext cx="44439" cy="9158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7501508" y="5529890"/>
            <a:ext cx="44439" cy="11418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594092" y="5531062"/>
            <a:ext cx="44439" cy="11184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7686675" y="5446281"/>
            <a:ext cx="44439" cy="28140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7779258" y="5510579"/>
            <a:ext cx="44439" cy="15280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7871841" y="5447568"/>
            <a:ext cx="44439" cy="27883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7964424" y="5519953"/>
            <a:ext cx="44439" cy="13406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8057007" y="5528530"/>
            <a:ext cx="44439" cy="11690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8149590" y="5531362"/>
            <a:ext cx="44439" cy="11124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8242173" y="5475470"/>
            <a:ext cx="44439" cy="22302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8334756" y="5488795"/>
            <a:ext cx="44439" cy="19637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8427339" y="5449637"/>
            <a:ext cx="44439" cy="27469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8519922" y="5490032"/>
            <a:ext cx="44439" cy="19390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8612505" y="5502931"/>
            <a:ext cx="44439" cy="168105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8705088" y="5545126"/>
            <a:ext cx="44439" cy="8371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8797671" y="5509620"/>
            <a:ext cx="44439" cy="15472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8890254" y="5480892"/>
            <a:ext cx="44439" cy="21218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8982837" y="5468089"/>
            <a:ext cx="44439" cy="23778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9075420" y="5460906"/>
            <a:ext cx="44439" cy="25215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9168003" y="5493627"/>
            <a:ext cx="44439" cy="18671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9260586" y="5514614"/>
            <a:ext cx="44439" cy="14473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9353169" y="5538910"/>
            <a:ext cx="44439" cy="9614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9445752" y="5490737"/>
            <a:ext cx="44439" cy="19249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9538335" y="5496404"/>
            <a:ext cx="44439" cy="18115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9630918" y="5441933"/>
            <a:ext cx="44439" cy="29010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9723501" y="5501938"/>
            <a:ext cx="44439" cy="17009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9816084" y="5479475"/>
            <a:ext cx="44439" cy="21501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9908667" y="5538937"/>
            <a:ext cx="44439" cy="9609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10001250" y="5516855"/>
            <a:ext cx="44439" cy="14025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10093833" y="5525185"/>
            <a:ext cx="44439" cy="12359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10186416" y="5439520"/>
            <a:ext cx="44439" cy="29492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10278999" y="5523852"/>
            <a:ext cx="44439" cy="12626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10371582" y="5449537"/>
            <a:ext cx="44439" cy="27489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10464165" y="5539987"/>
            <a:ext cx="44439" cy="9399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10556748" y="5541191"/>
            <a:ext cx="44439" cy="9158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10649331" y="5545007"/>
            <a:ext cx="44439" cy="8395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10741914" y="5455188"/>
            <a:ext cx="44439" cy="26359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10834497" y="5542802"/>
            <a:ext cx="44439" cy="8836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85800" y="6236208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2026 졸업작품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PRESENTATION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발표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기능을 나열하기보다 실제 사용 흐름대로 보여드립니다.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03120"/>
            <a:ext cx="5193792" cy="93268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67712"/>
            <a:ext cx="50292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CFB65"/>
                </a:solidFill>
                <a:latin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212848"/>
            <a:ext cx="20116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6FAFF"/>
                </a:solidFill>
                <a:latin typeface="Pretendard"/>
              </a:rPr>
              <a:t>프로젝트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560320"/>
            <a:ext cx="356616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9EABC0"/>
                </a:solidFill>
                <a:latin typeface="Pretendard"/>
              </a:rPr>
              <a:t>왜 필요한가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103120"/>
            <a:ext cx="5193792" cy="93268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267712"/>
            <a:ext cx="50292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CFB65"/>
                </a:solidFill>
                <a:latin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2212848"/>
            <a:ext cx="20116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6FAFF"/>
                </a:solidFill>
                <a:latin typeface="Pretendard"/>
              </a:rPr>
              <a:t>개발 환경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6" y="2560320"/>
            <a:ext cx="356616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9EABC0"/>
                </a:solidFill>
                <a:latin typeface="Pretendard"/>
              </a:rPr>
              <a:t>어떻게 만들었나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5193792" cy="93268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502152"/>
            <a:ext cx="50292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CFB65"/>
                </a:solidFill>
                <a:latin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447288"/>
            <a:ext cx="20116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6FAFF"/>
                </a:solidFill>
                <a:latin typeface="Pretendard"/>
              </a:rPr>
              <a:t>서비스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794760"/>
            <a:ext cx="356616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9EABC0"/>
                </a:solidFill>
                <a:latin typeface="Pretendard"/>
              </a:rPr>
              <a:t>사용자는 어디서 무엇을 하나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337560"/>
            <a:ext cx="5193792" cy="93268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3502152"/>
            <a:ext cx="50292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CFB65"/>
                </a:solidFill>
                <a:latin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447288"/>
            <a:ext cx="20116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6FAFF"/>
                </a:solidFill>
                <a:latin typeface="Pretendard"/>
              </a:rPr>
              <a:t>핵심 기능 시연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3794760"/>
            <a:ext cx="356616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9EABC0"/>
                </a:solidFill>
                <a:latin typeface="Pretendard"/>
              </a:rPr>
              <a:t>작곡 · 공유 · 협업 · 에어 악기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72000"/>
            <a:ext cx="5193792" cy="93268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736592"/>
            <a:ext cx="50292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CFB65"/>
                </a:solidFill>
                <a:latin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681728"/>
            <a:ext cx="20116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6FAFF"/>
                </a:solidFill>
                <a:latin typeface="Pretendard"/>
              </a:rPr>
              <a:t>기술 구조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9616" y="5029200"/>
            <a:ext cx="356616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9EABC0"/>
                </a:solidFill>
                <a:latin typeface="Pretendard"/>
              </a:rPr>
              <a:t>실시간 연결과 데이터 흐름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4572000"/>
            <a:ext cx="5193792" cy="93268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4736592"/>
            <a:ext cx="50292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CFB65"/>
                </a:solidFill>
                <a:latin typeface="Pretendard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4681728"/>
            <a:ext cx="20116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6FAFF"/>
                </a:solidFill>
                <a:latin typeface="Pretendard"/>
              </a:rPr>
              <a:t>기대효과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6" y="5029200"/>
            <a:ext cx="356616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9EABC0"/>
                </a:solidFill>
                <a:latin typeface="Pretendard"/>
              </a:rPr>
              <a:t>무엇이 달라지는가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작곡의 시작부터 공유까지, 흐름이 끊기지 않게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초보자의 진입장벽과 협업 도구의 분산 문제를 하나의 웹 서비스로 해결합니다.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3474720" cy="342900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76856"/>
            <a:ext cx="3035807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CFB65"/>
                </a:solidFill>
                <a:latin typeface="Pretendard"/>
              </a:rPr>
              <a:t>PROBLEM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51760"/>
            <a:ext cx="2962656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작곡은 어렵다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27248"/>
            <a:ext cx="2962656" cy="2148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전문 DAW는 기능이 많고 복잡합니다.
처음 곡을 만드는 사용자는 멜로디를 기록하기도 전에 도구 사용법에서 막힙니다.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057400"/>
            <a:ext cx="3474720" cy="342900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76856"/>
            <a:ext cx="3035807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65E6C4"/>
                </a:solidFill>
                <a:latin typeface="Pretendard"/>
              </a:rPr>
              <a:t>PROBLEM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51760"/>
            <a:ext cx="2962656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협업은 흩어진다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127248"/>
            <a:ext cx="2962656" cy="2148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메신저, 파일 전송, 화상회의를 오가며 버전이 뒤섞입니다.
누가 어느 파트를 수정했는지 추적하기 어렵습니다.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057400"/>
            <a:ext cx="3474720" cy="342900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276856"/>
            <a:ext cx="3035808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B7CF6"/>
                </a:solidFill>
                <a:latin typeface="Pretendard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651760"/>
            <a:ext cx="2962656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하나의 음악 작업실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127248"/>
            <a:ext cx="2962656" cy="2148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브라우저에서 작곡하고, 실시간으로 함께 수정하며, 완성 전 스케치도 커뮤니티에 공유합니다.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777240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6FAFF"/>
                </a:solidFill>
                <a:latin typeface="Pretendard"/>
              </a:rPr>
              <a:t>MIDI 감각의 편집  ×  실시간 협업  ×  커뮤니티 피드백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CORE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Song Project가 만드는 3가지 변화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493008" cy="352044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240280"/>
            <a:ext cx="5029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CFB65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231136"/>
            <a:ext cx="2523744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CFB65"/>
                </a:solidFill>
                <a:latin typeface="Pretendard"/>
              </a:rPr>
              <a:t>BARRIER-FREE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980944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설치 없이 브라우저에서 바로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81528"/>
            <a:ext cx="2980944" cy="22402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작곡 화면에 들어가 음을 찍고 즉시 재생합니다.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7" y="5067856"/>
            <a:ext cx="56692" cy="8727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6517" y="5001056"/>
            <a:ext cx="56692" cy="22087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14627" y="5070525"/>
            <a:ext cx="56692" cy="8194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32738" y="5060412"/>
            <a:ext cx="56692" cy="102167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50847" y="5061460"/>
            <a:ext cx="56692" cy="100070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68958" y="4985604"/>
            <a:ext cx="56692" cy="25178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87068" y="5043134"/>
            <a:ext cx="56692" cy="13672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05178" y="4986755"/>
            <a:ext cx="56692" cy="249480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23288" y="5051521"/>
            <a:ext cx="56692" cy="11994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41398" y="5059195"/>
            <a:ext cx="56692" cy="10460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59507" y="5061729"/>
            <a:ext cx="56692" cy="9953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77618" y="5011720"/>
            <a:ext cx="56692" cy="199550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95728" y="5023643"/>
            <a:ext cx="56692" cy="175705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13838" y="4988606"/>
            <a:ext cx="56692" cy="245778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31948" y="5024750"/>
            <a:ext cx="56692" cy="17349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50058" y="5036291"/>
            <a:ext cx="56692" cy="15040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68168" y="5074044"/>
            <a:ext cx="56692" cy="7490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86278" y="5042275"/>
            <a:ext cx="56692" cy="138440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04388" y="5016571"/>
            <a:ext cx="56692" cy="189848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22498" y="5005116"/>
            <a:ext cx="56692" cy="21275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40608" y="4998689"/>
            <a:ext cx="56692" cy="22561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58718" y="5027966"/>
            <a:ext cx="56692" cy="16705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76828" y="5046744"/>
            <a:ext cx="56692" cy="12950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94938" y="5068483"/>
            <a:ext cx="56692" cy="86025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71416" y="2011680"/>
            <a:ext cx="3493008" cy="352044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0016" y="2240280"/>
            <a:ext cx="5029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65E6C4"/>
                </a:solidFill>
                <a:latin typeface="Pretendard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2231136"/>
            <a:ext cx="2523743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65E6C4"/>
                </a:solidFill>
                <a:latin typeface="Pretendard"/>
              </a:rPr>
              <a:t>INTERACTIVE CO-CREATION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7448" y="2606040"/>
            <a:ext cx="2980944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같은 곡을 실시간으로 공동 편집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7448" y="3081528"/>
            <a:ext cx="2980944" cy="22402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파트별 모집과 채팅으로 협업 진입을 줄입니다.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91455" y="5067856"/>
            <a:ext cx="56692" cy="8727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09565" y="5001056"/>
            <a:ext cx="56692" cy="22087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27676" y="5070525"/>
            <a:ext cx="56692" cy="8194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45786" y="5060412"/>
            <a:ext cx="56692" cy="10216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63895" y="5061460"/>
            <a:ext cx="56692" cy="10007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82005" y="4985604"/>
            <a:ext cx="56692" cy="25178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500116" y="5043134"/>
            <a:ext cx="56692" cy="13672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618225" y="4986755"/>
            <a:ext cx="56692" cy="24948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736335" y="5051521"/>
            <a:ext cx="56692" cy="11994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854446" y="5059195"/>
            <a:ext cx="56692" cy="10460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72556" y="5061729"/>
            <a:ext cx="56692" cy="9953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090665" y="5011720"/>
            <a:ext cx="56692" cy="19955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208775" y="5023643"/>
            <a:ext cx="56692" cy="17570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326886" y="4988606"/>
            <a:ext cx="56692" cy="24577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44996" y="5024750"/>
            <a:ext cx="56692" cy="17349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63105" y="5036291"/>
            <a:ext cx="56692" cy="15040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681216" y="5074044"/>
            <a:ext cx="56692" cy="7490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799326" y="5042275"/>
            <a:ext cx="56692" cy="13844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917436" y="5016571"/>
            <a:ext cx="56692" cy="18984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035545" y="5005116"/>
            <a:ext cx="56692" cy="21275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153655" y="4998689"/>
            <a:ext cx="56692" cy="22561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271766" y="5027966"/>
            <a:ext cx="56692" cy="16705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389876" y="5046744"/>
            <a:ext cx="56692" cy="12950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507986" y="5068483"/>
            <a:ext cx="56692" cy="8602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284464" y="2011680"/>
            <a:ext cx="3493008" cy="352044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13064" y="2240280"/>
            <a:ext cx="5029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B7CF6"/>
                </a:solidFill>
                <a:latin typeface="Pretendard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0848" y="2231136"/>
            <a:ext cx="2523744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B7CF6"/>
                </a:solidFill>
                <a:latin typeface="Pretendard"/>
              </a:rPr>
              <a:t>FROM SKETCH TO COMMUNITY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0496" y="2606040"/>
            <a:ext cx="2980944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스케치 단계부터 공유하고 발전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0496" y="3081528"/>
            <a:ext cx="2980944" cy="22402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파형, Song DNA, 댓글 피드백이 다음 작업으로 이어집니다.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04504" y="5067856"/>
            <a:ext cx="56692" cy="8727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722614" y="5001056"/>
            <a:ext cx="56692" cy="220879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840724" y="5070525"/>
            <a:ext cx="56692" cy="81941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958834" y="5060412"/>
            <a:ext cx="56692" cy="102167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076944" y="5061460"/>
            <a:ext cx="56692" cy="100070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195054" y="4985604"/>
            <a:ext cx="56692" cy="25178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313164" y="5043134"/>
            <a:ext cx="56692" cy="136723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431274" y="4986755"/>
            <a:ext cx="56692" cy="249480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549384" y="5051521"/>
            <a:ext cx="56692" cy="119949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667494" y="5059195"/>
            <a:ext cx="56692" cy="104601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785604" y="5061729"/>
            <a:ext cx="56692" cy="9953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903714" y="5011720"/>
            <a:ext cx="56692" cy="199550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021824" y="5023643"/>
            <a:ext cx="56692" cy="175705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0139934" y="4988606"/>
            <a:ext cx="56692" cy="245778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258044" y="5024750"/>
            <a:ext cx="56692" cy="173491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376154" y="5036291"/>
            <a:ext cx="56692" cy="15040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494264" y="5074044"/>
            <a:ext cx="56692" cy="74902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0612374" y="5042275"/>
            <a:ext cx="56692" cy="138440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730484" y="5016571"/>
            <a:ext cx="56692" cy="189848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848594" y="5005116"/>
            <a:ext cx="56692" cy="212759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966704" y="4998689"/>
            <a:ext cx="56692" cy="22561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1084814" y="5027966"/>
            <a:ext cx="56692" cy="167059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1202924" y="5046744"/>
            <a:ext cx="56692" cy="129502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1321034" y="5068483"/>
            <a:ext cx="56692" cy="86025"/>
          </a:xfrm>
          <a:prstGeom prst="roundRect">
            <a:avLst/>
          </a:prstGeom>
          <a:solidFill>
            <a:srgbClr val="8B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5800" y="5897880"/>
            <a:ext cx="10789920" cy="34747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9EABC0"/>
                </a:solidFill>
                <a:latin typeface="Pretendard"/>
              </a:rPr>
              <a:t>핵심은 ‘기능 수’가 아니라, 작업이 다음 행동으로 자연스럽게 이어지는 경험입니다.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DEVELOPMENT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빠른 상호작용, 실시간 데이터, 브라우저 오디오를 중심으로 구성했습니다.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1993392" cy="28803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2377440"/>
            <a:ext cx="132588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CF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377440"/>
            <a:ext cx="13258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CFB65"/>
                </a:solidFill>
                <a:latin typeface="Pretendard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71800"/>
            <a:ext cx="1554480" cy="11887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6FAFF"/>
                </a:solidFill>
                <a:latin typeface="Pretendard"/>
              </a:rPr>
              <a:t>React 19
TypeScript
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526280"/>
            <a:ext cx="1591056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9EABC0"/>
                </a:solidFill>
                <a:latin typeface="Pretendard"/>
              </a:rPr>
              <a:t>UI / 상태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148840"/>
            <a:ext cx="1993392" cy="28803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27248" y="2377440"/>
            <a:ext cx="132588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377440"/>
            <a:ext cx="13258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5E6C4"/>
                </a:solidFill>
                <a:latin typeface="Pretendard"/>
              </a:rPr>
              <a:t>AUDIO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2971800"/>
            <a:ext cx="1554480" cy="11887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6FAFF"/>
                </a:solidFill>
                <a:latin typeface="Pretendard"/>
              </a:rPr>
              <a:t>Tone.js
Web Audio API
MediaRecorder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4526280"/>
            <a:ext cx="1591056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9EABC0"/>
                </a:solidFill>
                <a:latin typeface="Pretendard"/>
              </a:rPr>
              <a:t>재생 / 녹음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2148840"/>
            <a:ext cx="1993392" cy="28803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59" y="2377440"/>
            <a:ext cx="132588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2377440"/>
            <a:ext cx="13258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B7CF6"/>
                </a:solidFill>
                <a:latin typeface="Pretendard"/>
              </a:rPr>
              <a:t>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971800"/>
            <a:ext cx="1554480" cy="11887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6FAFF"/>
                </a:solidFill>
                <a:latin typeface="Pretendard"/>
              </a:rPr>
              <a:t>MediaPipe
Camera Hands
Canvas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4526280"/>
            <a:ext cx="1591056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9EABC0"/>
                </a:solidFill>
                <a:latin typeface="Pretendard"/>
              </a:rPr>
              <a:t>손동작 인식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61504" y="2148840"/>
            <a:ext cx="1993392" cy="28803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62672" y="2377440"/>
            <a:ext cx="132588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CF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2" y="2377440"/>
            <a:ext cx="13258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CFB65"/>
                </a:solidFill>
                <a:latin typeface="Pretendard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971800"/>
            <a:ext cx="1554480" cy="11887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6FAFF"/>
                </a:solidFill>
                <a:latin typeface="Pretendard"/>
              </a:rPr>
              <a:t>Firebase
Node.js
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4526280"/>
            <a:ext cx="1591056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9EABC0"/>
                </a:solidFill>
                <a:latin typeface="Pretendard"/>
              </a:rPr>
              <a:t>저장 / 인증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29216" y="2148840"/>
            <a:ext cx="1993392" cy="28803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30384" y="2377440"/>
            <a:ext cx="132588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2377440"/>
            <a:ext cx="13258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5E6C4"/>
                </a:solidFill>
                <a:latin typeface="Pretendard"/>
              </a:rPr>
              <a:t>REALTIME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971800"/>
            <a:ext cx="1554480" cy="11887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6FAFF"/>
                </a:solidFill>
                <a:latin typeface="Pretendard"/>
              </a:rPr>
              <a:t>WebSocket
WebRTC
Conflict 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526280"/>
            <a:ext cx="1591056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9EABC0"/>
                </a:solidFill>
                <a:latin typeface="Pretendard"/>
              </a:rPr>
              <a:t>공동 편집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5650992"/>
            <a:ext cx="9875520" cy="4114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6FAFF"/>
                </a:solidFill>
                <a:latin typeface="Pretendard"/>
              </a:rPr>
              <a:t>웹 표준 기술을 조합해 별도 프로그램 설치 없이 음악 제작 환경을 제공합니다.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SERVICE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서비스 기능도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사용자는 작곡을 중심으로 라이브러리·협업·커뮤니티를 순환합니다.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90872" y="2761488"/>
            <a:ext cx="2788920" cy="1078992"/>
          </a:xfrm>
          <a:prstGeom prst="roundRect">
            <a:avLst/>
          </a:prstGeom>
          <a:solidFill>
            <a:srgbClr val="173126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862072"/>
            <a:ext cx="27889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65E6C4"/>
                </a:solidFill>
                <a:latin typeface="Pretendard"/>
              </a:rPr>
              <a:t>COMPOSER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154680"/>
            <a:ext cx="278892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6FAFF"/>
                </a:solidFill>
                <a:latin typeface="Pretendard"/>
              </a:rPr>
              <a:t>곡 스케치 작업실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3246120" cy="118872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85416"/>
            <a:ext cx="13716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8CFB65"/>
                </a:solidFill>
                <a:latin typeface="Pretendard"/>
              </a:rPr>
              <a:t>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14600"/>
            <a:ext cx="26517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6FAFF"/>
                </a:solidFill>
                <a:latin typeface="Pretendard"/>
              </a:rPr>
              <a:t>추천곡 · HOT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587752"/>
            <a:ext cx="758952" cy="22860"/>
          </a:xfrm>
          <a:prstGeom prst="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3246120" cy="118872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242816"/>
            <a:ext cx="13716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8CFB65"/>
                </a:solidFill>
                <a:latin typeface="Pretendard"/>
              </a:rPr>
              <a:t>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572000"/>
            <a:ext cx="26517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6FAFF"/>
                </a:solidFill>
                <a:latin typeface="Pretendard"/>
              </a:rPr>
              <a:t>저장 · 불러오기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4645152"/>
            <a:ext cx="758952" cy="22860"/>
          </a:xfrm>
          <a:prstGeom prst="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011680"/>
            <a:ext cx="3246120" cy="118872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185416"/>
            <a:ext cx="13716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8CFB65"/>
                </a:solidFill>
                <a:latin typeface="Pretendard"/>
              </a:rPr>
              <a:t>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514600"/>
            <a:ext cx="26517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6FAFF"/>
                </a:solidFill>
                <a:latin typeface="Pretendard"/>
              </a:rPr>
              <a:t>공유곡 · 게시판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9792" y="2587752"/>
            <a:ext cx="758952" cy="22860"/>
          </a:xfrm>
          <a:prstGeom prst="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4069080"/>
            <a:ext cx="3246120" cy="118872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9056" y="4242816"/>
            <a:ext cx="13716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8CFB65"/>
                </a:solidFill>
                <a:latin typeface="Pretendard"/>
              </a:rPr>
              <a:t>COLLAB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4572000"/>
            <a:ext cx="26517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6FAFF"/>
                </a:solidFill>
                <a:latin typeface="Pretendard"/>
              </a:rPr>
              <a:t>파트 모집 · 채팅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79792" y="4645152"/>
            <a:ext cx="758952" cy="22860"/>
          </a:xfrm>
          <a:prstGeom prst="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99432" y="2176272"/>
            <a:ext cx="132588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2176272"/>
            <a:ext cx="13258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B7CF6"/>
                </a:solidFill>
                <a:latin typeface="Pretendard"/>
              </a:rPr>
              <a:t>VIDEO OVERLAY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2176272"/>
            <a:ext cx="141732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CF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2176272"/>
            <a:ext cx="14173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CFB65"/>
                </a:solidFill>
                <a:latin typeface="Pretendard"/>
              </a:rPr>
              <a:t>AIR INSTRUMENT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0056" y="4142232"/>
            <a:ext cx="105156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0056" y="4142232"/>
            <a:ext cx="10515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5E6C4"/>
                </a:solidFill>
                <a:latin typeface="Pretendard"/>
              </a:rPr>
              <a:t>SONG DNA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4142232"/>
            <a:ext cx="1078992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4142232"/>
            <a:ext cx="1078992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B7CF6"/>
                </a:solidFill>
                <a:latin typeface="Pretendard"/>
              </a:rPr>
              <a:t>MP3 / WEBM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FEATURE DEMO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작곡 화면 — 찍고, 듣고, 바로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설명보다 시연이 중심이 되는 핵심 화면입니다.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6858000" cy="4096512"/>
          </a:xfrm>
          <a:prstGeom prst="roundRect">
            <a:avLst/>
          </a:prstGeom>
          <a:solidFill>
            <a:srgbClr val="0D1420"/>
          </a:solidFill>
          <a:ln w="10160">
            <a:solidFill>
              <a:srgbClr val="33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6858000" cy="329184"/>
          </a:xfrm>
          <a:prstGeom prst="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1" y="2121408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1" y="2121408"/>
            <a:ext cx="73152" cy="7315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0431" y="2121408"/>
            <a:ext cx="73152" cy="73152"/>
          </a:xfrm>
          <a:prstGeom prst="ellipse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057400"/>
            <a:ext cx="539496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9EABC0"/>
                </a:solidFill>
                <a:latin typeface="Pretendard"/>
              </a:rPr>
              <a:t>Song Project / Composer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487168"/>
            <a:ext cx="64008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65E6C4"/>
                </a:solidFill>
                <a:latin typeface="Pretendard"/>
              </a:rPr>
              <a:t>멜로디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" y="2834640"/>
            <a:ext cx="438912" cy="228600"/>
          </a:xfrm>
          <a:prstGeom prst="rect">
            <a:avLst/>
          </a:prstGeom>
          <a:solidFill>
            <a:srgbClr val="10151E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98448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92807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7168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81528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75887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0248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4608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58968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53328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47688" y="2834640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" y="3192399"/>
            <a:ext cx="438912" cy="228600"/>
          </a:xfrm>
          <a:prstGeom prst="rect">
            <a:avLst/>
          </a:prstGeom>
          <a:solidFill>
            <a:srgbClr val="E8EEF6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98448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92807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87168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75887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70248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64608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58968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53328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47688" y="3192399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1" y="3550158"/>
            <a:ext cx="438912" cy="228600"/>
          </a:xfrm>
          <a:prstGeom prst="rect">
            <a:avLst/>
          </a:prstGeom>
          <a:solidFill>
            <a:srgbClr val="10151E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98448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92807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87168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1528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75887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70248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64608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58968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53328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47688" y="3550158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1" y="3907916"/>
            <a:ext cx="438912" cy="228600"/>
          </a:xfrm>
          <a:prstGeom prst="rect">
            <a:avLst/>
          </a:prstGeom>
          <a:solidFill>
            <a:srgbClr val="E8EEF6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98448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92807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87168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81528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75887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70248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64608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58968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53328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47688" y="390791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4671" y="4265676"/>
            <a:ext cx="438912" cy="228600"/>
          </a:xfrm>
          <a:prstGeom prst="rect">
            <a:avLst/>
          </a:prstGeom>
          <a:solidFill>
            <a:srgbClr val="10151E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98448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892807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87168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81528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75887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70248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64608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58968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53328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647688" y="4265676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4671" y="4623435"/>
            <a:ext cx="438912" cy="228600"/>
          </a:xfrm>
          <a:prstGeom prst="rect">
            <a:avLst/>
          </a:prstGeom>
          <a:solidFill>
            <a:srgbClr val="E8EEF6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98448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892807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487168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081528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75887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70248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864608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58968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053328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47688" y="4623435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4671" y="4981194"/>
            <a:ext cx="438912" cy="228600"/>
          </a:xfrm>
          <a:prstGeom prst="rect">
            <a:avLst/>
          </a:prstGeom>
          <a:solidFill>
            <a:srgbClr val="10151E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298448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92807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487168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081528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75887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70248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864608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458968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053328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647688" y="4981194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4671" y="5338953"/>
            <a:ext cx="438912" cy="228600"/>
          </a:xfrm>
          <a:prstGeom prst="rect">
            <a:avLst/>
          </a:prstGeom>
          <a:solidFill>
            <a:srgbClr val="E8EEF6"/>
          </a:solidFill>
          <a:ln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98448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892807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487168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081528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675887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70248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864608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58968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053328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647688" y="5338953"/>
            <a:ext cx="594360" cy="228600"/>
          </a:xfrm>
          <a:prstGeom prst="rect">
            <a:avLst/>
          </a:prstGeom>
          <a:solidFill>
            <a:srgbClr val="171F2C"/>
          </a:solidFill>
          <a:ln>
            <a:solidFill>
              <a:srgbClr val="25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892807" y="3577590"/>
            <a:ext cx="1755648" cy="17373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081528" y="4650867"/>
            <a:ext cx="1161288" cy="17373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270248" y="5366385"/>
            <a:ext cx="1161288" cy="17373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458968" y="4293108"/>
            <a:ext cx="1755648" cy="17373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325880" y="5856488"/>
            <a:ext cx="88468" cy="4620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510188" y="5821124"/>
            <a:ext cx="88468" cy="11693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694497" y="5857901"/>
            <a:ext cx="88468" cy="4338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878806" y="5852547"/>
            <a:ext cx="88468" cy="5408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2063115" y="5853102"/>
            <a:ext cx="88468" cy="5297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2247423" y="5812943"/>
            <a:ext cx="88468" cy="133297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2431732" y="5843400"/>
            <a:ext cx="88468" cy="7238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2616041" y="5813553"/>
            <a:ext cx="88468" cy="13207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2800350" y="5847840"/>
            <a:ext cx="88468" cy="6350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2984658" y="5851903"/>
            <a:ext cx="88468" cy="5537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3168967" y="5853244"/>
            <a:ext cx="88468" cy="5269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3353276" y="5826769"/>
            <a:ext cx="88468" cy="10564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3537585" y="5833081"/>
            <a:ext cx="88468" cy="9302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3721893" y="5814532"/>
            <a:ext cx="88468" cy="13011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3906202" y="5833667"/>
            <a:ext cx="88468" cy="9184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4090511" y="5839777"/>
            <a:ext cx="88468" cy="79628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4274820" y="5859764"/>
            <a:ext cx="88468" cy="3965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4459128" y="5842946"/>
            <a:ext cx="88468" cy="7329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4643437" y="5829337"/>
            <a:ext cx="88468" cy="10050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4827746" y="5823273"/>
            <a:ext cx="88468" cy="11263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5012055" y="5819871"/>
            <a:ext cx="88468" cy="11944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196363" y="5835370"/>
            <a:ext cx="88468" cy="8844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5380672" y="5845311"/>
            <a:ext cx="88468" cy="6856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5564981" y="5856820"/>
            <a:ext cx="88468" cy="4554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5749290" y="5834001"/>
            <a:ext cx="88468" cy="9118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5933598" y="5836685"/>
            <a:ext cx="88468" cy="8581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6117907" y="5810883"/>
            <a:ext cx="88468" cy="13741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6302216" y="5839307"/>
            <a:ext cx="88468" cy="8056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6486525" y="5828667"/>
            <a:ext cx="88468" cy="10184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6670833" y="5856833"/>
            <a:ext cx="88468" cy="4551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6855142" y="5846373"/>
            <a:ext cx="88468" cy="66437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039451" y="5850319"/>
            <a:ext cx="88468" cy="5854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7818120" y="2029968"/>
            <a:ext cx="3703320" cy="768096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28431" y="2176272"/>
            <a:ext cx="34747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CFB65"/>
                </a:solidFill>
                <a:latin typeface="Pretendard"/>
              </a:rPr>
              <a:t>01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503920" y="2121408"/>
            <a:ext cx="265176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6FAFF"/>
                </a:solidFill>
                <a:latin typeface="Pretendard"/>
              </a:rPr>
              <a:t>피아노 롤 입력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503920" y="2423160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9EABC0"/>
                </a:solidFill>
                <a:latin typeface="Pretendard"/>
              </a:rPr>
              <a:t>음정과 길이를 눈으로 확인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818120" y="3017520"/>
            <a:ext cx="3703320" cy="768096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28431" y="3163824"/>
            <a:ext cx="34747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CFB65"/>
                </a:solidFill>
                <a:latin typeface="Pretendard"/>
              </a:rPr>
              <a:t>02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503920" y="3108960"/>
            <a:ext cx="265176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6FAFF"/>
                </a:solidFill>
                <a:latin typeface="Pretendard"/>
              </a:rPr>
              <a:t>악기별 트랙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03920" y="3410712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9EABC0"/>
                </a:solidFill>
                <a:latin typeface="Pretendard"/>
              </a:rPr>
              <a:t>멜로디·기타·드럼·베이스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818120" y="4005072"/>
            <a:ext cx="3703320" cy="768096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028431" y="4151376"/>
            <a:ext cx="34747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CFB65"/>
                </a:solidFill>
                <a:latin typeface="Pretendard"/>
              </a:rPr>
              <a:t>03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503920" y="4096512"/>
            <a:ext cx="265176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6FAFF"/>
                </a:solidFill>
                <a:latin typeface="Pretendard"/>
              </a:rPr>
              <a:t>템포·반복 재생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503920" y="4398264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9EABC0"/>
                </a:solidFill>
                <a:latin typeface="Pretendard"/>
              </a:rPr>
              <a:t>마디 단위로 빠르게 확인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818120" y="4992624"/>
            <a:ext cx="3703320" cy="768096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028431" y="5138928"/>
            <a:ext cx="34747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CFB65"/>
                </a:solidFill>
                <a:latin typeface="Pretendard"/>
              </a:rPr>
              <a:t>04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03920" y="5084064"/>
            <a:ext cx="265176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6FAFF"/>
                </a:solidFill>
                <a:latin typeface="Pretendard"/>
              </a:rPr>
              <a:t>영상 오버레이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503920" y="5385816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9EABC0"/>
                </a:solidFill>
                <a:latin typeface="Pretendard"/>
              </a:rPr>
              <a:t>영상에 맞춰 음악을 제작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845552" y="5623560"/>
            <a:ext cx="100584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845552" y="5623560"/>
            <a:ext cx="100584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5E6C4"/>
                </a:solidFill>
                <a:latin typeface="Pretendard"/>
              </a:rPr>
              <a:t>DEMO POINT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979408" y="5586984"/>
            <a:ext cx="2468880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6FAFF"/>
                </a:solidFill>
                <a:latin typeface="Pretendard"/>
              </a:rPr>
              <a:t>음을 입력 → 재생 → 악기 음량 조절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FEATURE DEMO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공유곡이 다음 작업으로 이어지는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감상에서 끝나지 않고, 저장·피드백·협업 모집으로 연결됩니다.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486400" cy="3794760"/>
          </a:xfrm>
          <a:prstGeom prst="roundRect">
            <a:avLst/>
          </a:prstGeom>
          <a:solidFill>
            <a:srgbClr val="0D1420"/>
          </a:solidFill>
          <a:ln w="10160">
            <a:solidFill>
              <a:srgbClr val="33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57400"/>
            <a:ext cx="5486400" cy="329184"/>
          </a:xfrm>
          <a:prstGeom prst="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167128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39" y="2167128"/>
            <a:ext cx="73152" cy="7315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19" y="2167128"/>
            <a:ext cx="73152" cy="73152"/>
          </a:xfrm>
          <a:prstGeom prst="ellipse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103120"/>
            <a:ext cx="402336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9EABC0"/>
                </a:solidFill>
                <a:latin typeface="Pretendard"/>
              </a:rPr>
              <a:t>Song Project / Music Share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2624328"/>
            <a:ext cx="5084064" cy="822960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70632"/>
            <a:ext cx="347472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8CFB65"/>
                </a:solidFill>
                <a:latin typeface="Pretendar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734056"/>
            <a:ext cx="128016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6FAFF"/>
                </a:solidFill>
                <a:latin typeface="Pretendard"/>
              </a:rPr>
              <a:t>야경 루프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7208" y="2924150"/>
            <a:ext cx="56859" cy="7701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25664" y="2865209"/>
            <a:ext cx="56859" cy="19489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44120" y="2926505"/>
            <a:ext cx="56859" cy="7230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62577" y="2917582"/>
            <a:ext cx="56859" cy="9014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81033" y="2918507"/>
            <a:ext cx="56859" cy="8829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99489" y="2851575"/>
            <a:ext cx="56859" cy="22216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17946" y="2902336"/>
            <a:ext cx="56859" cy="12063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36402" y="2852591"/>
            <a:ext cx="56859" cy="22012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54858" y="2909736"/>
            <a:ext cx="56859" cy="10583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73315" y="2916508"/>
            <a:ext cx="56859" cy="9229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91771" y="2918744"/>
            <a:ext cx="56859" cy="8782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10228" y="2874619"/>
            <a:ext cx="56859" cy="17607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28684" y="2885138"/>
            <a:ext cx="56859" cy="15503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7140" y="2854224"/>
            <a:ext cx="56859" cy="21686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65597" y="2886115"/>
            <a:ext cx="56859" cy="15308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053" y="2896298"/>
            <a:ext cx="56859" cy="13271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02509" y="2929610"/>
            <a:ext cx="56859" cy="6609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20966" y="2901579"/>
            <a:ext cx="56859" cy="12215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939422" y="2878899"/>
            <a:ext cx="56859" cy="16751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57878" y="2868791"/>
            <a:ext cx="56859" cy="18772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76335" y="2863121"/>
            <a:ext cx="56859" cy="19906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94791" y="2888953"/>
            <a:ext cx="56859" cy="14740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9536" y="3675887"/>
            <a:ext cx="5084064" cy="822960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" y="3822191"/>
            <a:ext cx="347472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8CFB65"/>
                </a:solidFill>
                <a:latin typeface="Pretendard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3785615"/>
            <a:ext cx="128016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6FAFF"/>
                </a:solidFill>
                <a:latin typeface="Pretendard"/>
              </a:rPr>
              <a:t>감성 브리지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07208" y="3975710"/>
            <a:ext cx="56859" cy="7701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925664" y="3916769"/>
            <a:ext cx="56859" cy="19489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044120" y="3978065"/>
            <a:ext cx="56859" cy="7230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162577" y="3969142"/>
            <a:ext cx="56859" cy="9014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281033" y="3970067"/>
            <a:ext cx="56859" cy="8829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399489" y="3903135"/>
            <a:ext cx="56859" cy="22216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517946" y="3953896"/>
            <a:ext cx="56859" cy="12063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36402" y="3904151"/>
            <a:ext cx="56859" cy="22012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754858" y="3961296"/>
            <a:ext cx="56859" cy="10583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873315" y="3968068"/>
            <a:ext cx="56859" cy="9229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991771" y="3970304"/>
            <a:ext cx="56859" cy="8782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110228" y="3926179"/>
            <a:ext cx="56859" cy="17607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228684" y="3936698"/>
            <a:ext cx="56859" cy="15503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347140" y="3905784"/>
            <a:ext cx="56859" cy="21686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465597" y="3937675"/>
            <a:ext cx="56859" cy="15308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84053" y="3947858"/>
            <a:ext cx="56859" cy="13271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02509" y="3981170"/>
            <a:ext cx="56859" cy="6609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820966" y="3953139"/>
            <a:ext cx="56859" cy="12215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939422" y="3930459"/>
            <a:ext cx="56859" cy="16751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57878" y="3920351"/>
            <a:ext cx="56859" cy="18772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176335" y="3914681"/>
            <a:ext cx="56859" cy="19906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94791" y="3940513"/>
            <a:ext cx="56859" cy="14740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59536" y="4727448"/>
            <a:ext cx="5084064" cy="822960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4128" y="4873752"/>
            <a:ext cx="347472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8CFB65"/>
                </a:solidFill>
                <a:latin typeface="Pretendard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63040" y="4837176"/>
            <a:ext cx="1280160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6FAFF"/>
                </a:solidFill>
                <a:latin typeface="Pretendard"/>
              </a:rPr>
              <a:t>시티팝 리프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07208" y="5027270"/>
            <a:ext cx="56859" cy="7701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925664" y="4968329"/>
            <a:ext cx="56859" cy="19489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044120" y="5029625"/>
            <a:ext cx="56859" cy="7230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162577" y="5020702"/>
            <a:ext cx="56859" cy="9014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281033" y="5021627"/>
            <a:ext cx="56859" cy="8829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399489" y="4954695"/>
            <a:ext cx="56859" cy="22216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517946" y="5005456"/>
            <a:ext cx="56859" cy="12063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36402" y="4955711"/>
            <a:ext cx="56859" cy="22012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754858" y="5012856"/>
            <a:ext cx="56859" cy="10583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873315" y="5019628"/>
            <a:ext cx="56859" cy="9229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991771" y="5021864"/>
            <a:ext cx="56859" cy="8782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110228" y="4977739"/>
            <a:ext cx="56859" cy="17607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228684" y="4988258"/>
            <a:ext cx="56859" cy="15503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347140" y="4957344"/>
            <a:ext cx="56859" cy="21686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465597" y="4989235"/>
            <a:ext cx="56859" cy="15308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584053" y="4999418"/>
            <a:ext cx="56859" cy="13271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702509" y="5032730"/>
            <a:ext cx="56859" cy="6609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820966" y="5004699"/>
            <a:ext cx="56859" cy="12215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939422" y="4982019"/>
            <a:ext cx="56859" cy="16751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5057878" y="4971911"/>
            <a:ext cx="56859" cy="18772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176335" y="4966241"/>
            <a:ext cx="56859" cy="19906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294791" y="4992073"/>
            <a:ext cx="56859" cy="14740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446520" y="2057400"/>
            <a:ext cx="2423160" cy="164592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02552" y="2276856"/>
            <a:ext cx="1984247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CFB65"/>
                </a:solidFill>
                <a:latin typeface="Pretendard"/>
              </a:rPr>
              <a:t>01 / LISTEN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02552" y="2651760"/>
            <a:ext cx="1911095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파형 미리보기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02552" y="3127248"/>
            <a:ext cx="1911095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업로드된 곡의 실제 프로젝트 이벤트를 파형으로 표시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125712" y="2057400"/>
            <a:ext cx="2423160" cy="164592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81744" y="2276856"/>
            <a:ext cx="1984248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65E6C4"/>
                </a:solidFill>
                <a:latin typeface="Pretendard"/>
              </a:rPr>
              <a:t>02 / REACT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81744" y="2651760"/>
            <a:ext cx="1911095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댓글 피드백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81744" y="3127248"/>
            <a:ext cx="1911095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마디를 지정해 구체적인 의견을 남김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446520" y="3950208"/>
            <a:ext cx="2423160" cy="164592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02552" y="4169664"/>
            <a:ext cx="1984247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B7CF6"/>
                </a:solidFill>
                <a:latin typeface="Pretendard"/>
              </a:rPr>
              <a:t>03 / REUSE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02552" y="4544568"/>
            <a:ext cx="1911095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내 작업실로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02552" y="5020056"/>
            <a:ext cx="1911095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공유곡을 기반으로 새 스케치를 시작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25712" y="3950208"/>
            <a:ext cx="2423160" cy="164592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381744" y="4169664"/>
            <a:ext cx="1984248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CFB65"/>
                </a:solidFill>
                <a:latin typeface="Pretendard"/>
              </a:rPr>
              <a:t>04 / CONNECT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81744" y="4544568"/>
            <a:ext cx="1911095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파트 모집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81744" y="5020056"/>
            <a:ext cx="1911095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곡의 장르와 필요한 파트를 협업으로 연결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FEATURE DEMO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실시간 공동 작곡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같은 프로젝트를 보면서 편집·채팅·파트 상태를 공유합니다.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2487168" cy="224028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532888"/>
            <a:ext cx="411480" cy="4114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8CFB65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063240"/>
            <a:ext cx="20116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6FAFF"/>
                </a:solidFill>
                <a:latin typeface="Pretendard"/>
              </a:rPr>
              <a:t>방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547872"/>
            <a:ext cx="1901952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9EABC0"/>
                </a:solidFill>
                <a:latin typeface="Pretendard"/>
              </a:rPr>
              <a:t>작업 프로젝트와 필요한 파트를 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324612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65E6C4"/>
                </a:solidFill>
                <a:latin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331720"/>
            <a:ext cx="2487168" cy="224028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532888"/>
            <a:ext cx="411480" cy="4114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8CFB65"/>
                </a:solidFill>
                <a:latin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63240"/>
            <a:ext cx="20116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6FAFF"/>
                </a:solidFill>
                <a:latin typeface="Pretendard"/>
              </a:rPr>
              <a:t>파트 참여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547872"/>
            <a:ext cx="1901952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9EABC0"/>
                </a:solidFill>
                <a:latin typeface="Pretendard"/>
              </a:rPr>
              <a:t>세션 모집에서 역할을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24612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65E6C4"/>
                </a:solidFill>
                <a:latin typeface="Pretendar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331720"/>
            <a:ext cx="2487168" cy="224028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532888"/>
            <a:ext cx="411480" cy="4114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8CFB65"/>
                </a:solidFill>
                <a:latin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063240"/>
            <a:ext cx="20116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6FAFF"/>
                </a:solidFill>
                <a:latin typeface="Pretendard"/>
              </a:rPr>
              <a:t>실시간 편집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47872"/>
            <a:ext cx="1901952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9EABC0"/>
                </a:solidFill>
                <a:latin typeface="Pretendard"/>
              </a:rPr>
              <a:t>WebSocket으로 작업 상태 동기화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24612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65E6C4"/>
                </a:solidFill>
                <a:latin typeface="Pretendard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2331720"/>
            <a:ext cx="2487168" cy="224028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4" y="2532888"/>
            <a:ext cx="411480" cy="4114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8B7CF6"/>
                </a:solidFill>
                <a:latin typeface="Pretendar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063240"/>
            <a:ext cx="201168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6FAFF"/>
                </a:solidFill>
                <a:latin typeface="Pretendard"/>
              </a:rPr>
              <a:t>충돌 방지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547872"/>
            <a:ext cx="1901952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9EABC0"/>
                </a:solidFill>
                <a:latin typeface="Pretendard"/>
              </a:rPr>
              <a:t>편집 잠금과 버전 정보로 덮어쓰기 방지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5010912"/>
            <a:ext cx="7982712" cy="685800"/>
          </a:xfrm>
          <a:prstGeom prst="roundRect">
            <a:avLst/>
          </a:prstGeom>
          <a:solidFill>
            <a:srgbClr val="12251F"/>
          </a:solidFill>
          <a:ln w="10160">
            <a:solidFill>
              <a:srgbClr val="2D6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5148072"/>
            <a:ext cx="798271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65E6C4"/>
                </a:solidFill>
                <a:latin typeface="Pretendard"/>
              </a:rPr>
              <a:t>WebSocket Server  ·  Live Collaboration  ·  Conflict Resolution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FEATURE DEMO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카메라가 악기가 되는 에어 악기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MediaPipe Hands로 손동작을 인식하고, 연주 화면과 소리를 WebM으로 기록합니다.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29968"/>
            <a:ext cx="6035040" cy="3977639"/>
          </a:xfrm>
          <a:prstGeom prst="roundRect">
            <a:avLst/>
          </a:prstGeom>
          <a:solidFill>
            <a:srgbClr val="0D1420"/>
          </a:solidFill>
          <a:ln w="10160">
            <a:solidFill>
              <a:srgbClr val="33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6035040" cy="329184"/>
          </a:xfrm>
          <a:prstGeom prst="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139696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39" y="2139696"/>
            <a:ext cx="73152" cy="7315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19" y="2139696"/>
            <a:ext cx="73152" cy="73152"/>
          </a:xfrm>
          <a:prstGeom prst="ellipse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07568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9EABC0"/>
                </a:solidFill>
                <a:latin typeface="Pretendard"/>
              </a:rPr>
              <a:t>Song Project / Air Instrument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60320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LIVE CAMERA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" y="2898648"/>
            <a:ext cx="5577840" cy="2834639"/>
          </a:xfrm>
          <a:prstGeom prst="roundRect">
            <a:avLst/>
          </a:prstGeom>
          <a:solidFill>
            <a:srgbClr val="081019"/>
          </a:solidFill>
          <a:ln w="10160">
            <a:solidFill>
              <a:srgbClr val="34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264408"/>
            <a:ext cx="5120640" cy="10972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6FAFF"/>
                </a:solidFill>
                <a:latin typeface="Pretendard"/>
              </a:rPr>
              <a:t>손동작으로
연주 · 녹화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8448" y="5367528"/>
            <a:ext cx="105156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CF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5367528"/>
            <a:ext cx="10515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CFB65"/>
                </a:solidFill>
                <a:latin typeface="Pretendard"/>
              </a:rPr>
              <a:t>R 녹화 시작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41448" y="5367528"/>
            <a:ext cx="82296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41448" y="5367528"/>
            <a:ext cx="82296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5E6C4"/>
                </a:solidFill>
                <a:latin typeface="Pretendard"/>
              </a:rPr>
              <a:t>S 저장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2029968"/>
            <a:ext cx="2148840" cy="157276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2249424"/>
            <a:ext cx="1709928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CFB65"/>
                </a:solidFill>
                <a:latin typeface="Pretendard"/>
              </a:rPr>
              <a:t>MODE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2624328"/>
            <a:ext cx="1636776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에어 기타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3099816"/>
            <a:ext cx="1636776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스트럼과 줄 연주 방식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00032" y="2029968"/>
            <a:ext cx="2148840" cy="157276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6063" y="2249424"/>
            <a:ext cx="1709928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65E6C4"/>
                </a:solidFill>
                <a:latin typeface="Pretendard"/>
              </a:rPr>
              <a:t>MODE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3" y="2624328"/>
            <a:ext cx="1636776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에어 드럼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3" y="3099816"/>
            <a:ext cx="1636776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패드 위치를 손으로 타격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60" y="3886200"/>
            <a:ext cx="2148840" cy="157276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1192" y="4105656"/>
            <a:ext cx="1709928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B7CF6"/>
                </a:solidFill>
                <a:latin typeface="Pretendard"/>
              </a:rPr>
              <a:t>MODE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4480560"/>
            <a:ext cx="1636776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에어 피아노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4956048"/>
            <a:ext cx="1636776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손가락 위치로 음을 연주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0032" y="3886200"/>
            <a:ext cx="2148840" cy="1572768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6063" y="4105656"/>
            <a:ext cx="1709928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8CFB65"/>
                </a:solidFill>
                <a:latin typeface="Pretendard"/>
              </a:rPr>
              <a:t>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6063" y="4480560"/>
            <a:ext cx="1636776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FAFF"/>
                </a:solidFill>
                <a:latin typeface="Pretendard"/>
              </a:rPr>
              <a:t>R 시작 · S 종료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6063" y="4956048"/>
            <a:ext cx="1636776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EABC0"/>
                </a:solidFill>
                <a:latin typeface="Pretendard"/>
              </a:rPr>
              <a:t>종료하면 WebM 자동 저장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Song Project만의 연결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각 기능이 독립적으로 끝나지 않고 다음 단계로 이어집니다.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230368" cy="1444752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2276856"/>
            <a:ext cx="141732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CF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76856"/>
            <a:ext cx="14173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CFB65"/>
                </a:solidFill>
                <a:latin typeface="Pretendard"/>
              </a:rPr>
              <a:t>SONG DNA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52344"/>
            <a:ext cx="4709160" cy="42062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6FAFF"/>
                </a:solidFill>
                <a:latin typeface="Pretendard"/>
              </a:rPr>
              <a:t>곡 스케치의 분위기·멜로디 유형·활용도를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2057400"/>
            <a:ext cx="5230368" cy="1444752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3096" y="2276856"/>
            <a:ext cx="141732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276856"/>
            <a:ext cx="14173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5E6C4"/>
                </a:solidFill>
                <a:latin typeface="Pretendard"/>
              </a:rPr>
              <a:t>BRING TO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752344"/>
            <a:ext cx="4709160" cy="42062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6FAFF"/>
                </a:solidFill>
                <a:latin typeface="Pretendard"/>
              </a:rPr>
              <a:t>공유곡을 내 작업실로 가져와 이어서 편곡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931920"/>
            <a:ext cx="5230368" cy="1444752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" y="4151376"/>
            <a:ext cx="141732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151376"/>
            <a:ext cx="14173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B7CF6"/>
                </a:solidFill>
                <a:latin typeface="Pretendard"/>
              </a:rPr>
              <a:t>AUTO PART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626864"/>
            <a:ext cx="4709160" cy="42062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6FAFF"/>
                </a:solidFill>
                <a:latin typeface="Pretendard"/>
              </a:rPr>
              <a:t>곡 정보와 모집 파트를 연결해 세션 모집 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3931920"/>
            <a:ext cx="5230368" cy="1444752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83096" y="4151376"/>
            <a:ext cx="141732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CF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51376"/>
            <a:ext cx="141732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CFB65"/>
                </a:solidFill>
                <a:latin typeface="Pretendard"/>
              </a:rPr>
              <a:t>CAMERA TO MUSIC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626864"/>
            <a:ext cx="4709160" cy="42062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6FAFF"/>
                </a:solidFill>
                <a:latin typeface="Pretendard"/>
              </a:rPr>
              <a:t>에어 악기 연주를 녹화하고 작곡 경험으로 확장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5931401"/>
            <a:ext cx="57372" cy="97548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39765" y="5856743"/>
            <a:ext cx="57372" cy="24686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59290" y="5934384"/>
            <a:ext cx="57372" cy="9158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278815" y="5923082"/>
            <a:ext cx="57372" cy="11418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98340" y="5924254"/>
            <a:ext cx="57372" cy="11184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17865" y="5839473"/>
            <a:ext cx="57372" cy="28140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37390" y="5903771"/>
            <a:ext cx="57372" cy="15280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56916" y="5840760"/>
            <a:ext cx="57372" cy="27883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76441" y="5913145"/>
            <a:ext cx="57372" cy="13406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95966" y="5921722"/>
            <a:ext cx="57372" cy="11690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115491" y="5924554"/>
            <a:ext cx="57372" cy="11124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35016" y="5868662"/>
            <a:ext cx="57372" cy="22302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54541" y="5881987"/>
            <a:ext cx="57372" cy="19637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74066" y="5842829"/>
            <a:ext cx="57372" cy="27469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593592" y="5883224"/>
            <a:ext cx="57372" cy="19390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13117" y="5896123"/>
            <a:ext cx="57372" cy="168105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32642" y="5938318"/>
            <a:ext cx="57372" cy="8371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952167" y="5902812"/>
            <a:ext cx="57372" cy="15472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071692" y="5874084"/>
            <a:ext cx="57372" cy="21218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91217" y="5861281"/>
            <a:ext cx="57372" cy="23778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310742" y="5854098"/>
            <a:ext cx="57372" cy="25215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430268" y="5886819"/>
            <a:ext cx="57372" cy="18671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49793" y="5907806"/>
            <a:ext cx="57372" cy="14473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69318" y="5932102"/>
            <a:ext cx="57372" cy="9614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788843" y="5883929"/>
            <a:ext cx="57372" cy="19249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908368" y="5889596"/>
            <a:ext cx="57372" cy="18115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27893" y="5835125"/>
            <a:ext cx="57372" cy="29010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147418" y="5895130"/>
            <a:ext cx="57372" cy="17009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266944" y="5872667"/>
            <a:ext cx="57372" cy="21501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386469" y="5932129"/>
            <a:ext cx="57372" cy="9609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505994" y="5910047"/>
            <a:ext cx="57372" cy="14025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625519" y="5918377"/>
            <a:ext cx="57372" cy="12359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745044" y="5832712"/>
            <a:ext cx="57372" cy="29492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864569" y="5917044"/>
            <a:ext cx="57372" cy="12626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984094" y="5842729"/>
            <a:ext cx="57372" cy="27489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103620" y="5933179"/>
            <a:ext cx="57372" cy="9399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223145" y="5934383"/>
            <a:ext cx="57372" cy="9158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42670" y="5938199"/>
            <a:ext cx="57372" cy="8395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462195" y="5848380"/>
            <a:ext cx="57372" cy="26359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81720" y="5935994"/>
            <a:ext cx="57372" cy="8836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01245" y="5826363"/>
            <a:ext cx="57372" cy="30762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820770" y="5930115"/>
            <a:ext cx="57372" cy="10012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40296" y="5897876"/>
            <a:ext cx="57372" cy="16459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59821" y="5937976"/>
            <a:ext cx="57372" cy="8439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179346" y="5878291"/>
            <a:ext cx="57372" cy="20376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298871" y="5912884"/>
            <a:ext cx="57372" cy="134582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418396" y="5827958"/>
            <a:ext cx="57372" cy="30443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537921" y="5903014"/>
            <a:ext cx="57372" cy="15432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657446" y="5870414"/>
            <a:ext cx="57372" cy="21952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776972" y="5929370"/>
            <a:ext cx="57372" cy="10161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896497" y="5914408"/>
            <a:ext cx="57372" cy="13153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016022" y="5902510"/>
            <a:ext cx="57372" cy="15533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135547" y="5846599"/>
            <a:ext cx="57372" cy="26715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55072" y="5875183"/>
            <a:ext cx="57372" cy="20998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374597" y="5858840"/>
            <a:ext cx="57372" cy="24267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494122" y="5902522"/>
            <a:ext cx="57372" cy="15530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613648" y="5933523"/>
            <a:ext cx="57372" cy="9330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733173" y="5909439"/>
            <a:ext cx="57372" cy="14147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852698" y="5876347"/>
            <a:ext cx="57372" cy="20765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972223" y="5856166"/>
            <a:ext cx="57372" cy="24801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091748" y="5865239"/>
            <a:ext cx="57372" cy="22987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211273" y="5869781"/>
            <a:ext cx="57372" cy="22078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330798" y="5913279"/>
            <a:ext cx="57372" cy="13379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450324" y="5932968"/>
            <a:ext cx="57372" cy="9441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569849" y="5908036"/>
            <a:ext cx="57372" cy="14427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689374" y="5852923"/>
            <a:ext cx="57372" cy="25450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808899" y="5886311"/>
            <a:ext cx="57372" cy="18772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928424" y="5840923"/>
            <a:ext cx="57372" cy="27850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047949" y="5910157"/>
            <a:ext cx="57372" cy="14003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167474" y="5913108"/>
            <a:ext cx="57372" cy="13413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데이터와 미디어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브라우저의 즉각적인 반응과 서버의 영속성을 분리했습니다.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331720"/>
            <a:ext cx="2331720" cy="24231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7" y="2578608"/>
            <a:ext cx="100584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CF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578608"/>
            <a:ext cx="100584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CFB65"/>
                </a:solidFill>
                <a:latin typeface="Pretendard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46120"/>
            <a:ext cx="1783080" cy="9144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6FAFF"/>
                </a:solidFill>
                <a:latin typeface="Pretendard"/>
              </a:rPr>
              <a:t>React UI · Zustand ·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7" y="3310128"/>
            <a:ext cx="34747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65E6C4"/>
                </a:solidFill>
                <a:latin typeface="Pretendard"/>
              </a:rPr>
              <a:t>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331720"/>
            <a:ext cx="2331720" cy="24231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578608"/>
            <a:ext cx="100584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78608"/>
            <a:ext cx="100584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5E6C4"/>
                </a:solidFill>
                <a:latin typeface="Pretendard"/>
              </a:rPr>
              <a:t>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246120"/>
            <a:ext cx="1783080" cy="9144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6FAFF"/>
                </a:solidFill>
                <a:latin typeface="Pretendard"/>
              </a:rPr>
              <a:t>Tone.js · Web Audio · MediaRecorder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310128"/>
            <a:ext cx="34747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65E6C4"/>
                </a:solidFill>
                <a:latin typeface="Pretendard"/>
              </a:rPr>
              <a:t>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2331720"/>
            <a:ext cx="2331720" cy="24231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578608"/>
            <a:ext cx="100584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578608"/>
            <a:ext cx="100584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B7CF6"/>
                </a:solidFill>
                <a:latin typeface="Pretendard"/>
              </a:rPr>
              <a:t>REALTIME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246120"/>
            <a:ext cx="1783080" cy="9144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6FAFF"/>
                </a:solidFill>
                <a:latin typeface="Pretendard"/>
              </a:rPr>
              <a:t>WebSocket · WebRTC · 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3310128"/>
            <a:ext cx="34747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65E6C4"/>
                </a:solidFill>
                <a:latin typeface="Pretendard"/>
              </a:rPr>
              <a:t>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87384" y="2331720"/>
            <a:ext cx="2331720" cy="24231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15984" y="2578608"/>
            <a:ext cx="1005840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8CF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578608"/>
            <a:ext cx="1005840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8CFB65"/>
                </a:solidFill>
                <a:latin typeface="Pretendard"/>
              </a:rPr>
              <a:t>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3246120"/>
            <a:ext cx="1783080" cy="9144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6FAFF"/>
                </a:solidFill>
                <a:latin typeface="Pretendard"/>
              </a:rPr>
              <a:t>Firebase · Node.js · 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349240"/>
            <a:ext cx="9875520" cy="4572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9EABC0"/>
                </a:solidFill>
                <a:latin typeface="Pretendard"/>
              </a:rPr>
              <a:t>입력은 즉시 반응하고 · 협업 상태는 동기화되며 · 프로젝트는 안전하게 저장됩니다.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319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5E6C4"/>
                </a:solidFill>
                <a:latin typeface="Pretendard"/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698480" cy="6217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6FAFF"/>
                </a:solidFill>
                <a:latin typeface="Pretendard"/>
              </a:rPr>
              <a:t>플랫폼 기대효과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9EABC0"/>
                </a:solidFill>
                <a:latin typeface="Pretendard"/>
              </a:rPr>
              <a:t>음악 제작의 첫 진입과 협업의 다음 행동을 동시에 단순화합니다.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18520" cy="13716"/>
          </a:xfrm>
          <a:prstGeom prst="rect">
            <a:avLst/>
          </a:prstGeom>
          <a:solidFill>
            <a:srgbClr val="2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2487168" cy="28803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2084831" cy="5943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8CFB65"/>
                </a:solidFill>
                <a:latin typeface="Pretendard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2029968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6FAFF"/>
                </a:solidFill>
                <a:latin typeface="Pretendard"/>
              </a:rPr>
              <a:t>진입장벽 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913632"/>
            <a:ext cx="1865376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EABC0"/>
                </a:solidFill>
                <a:latin typeface="Pretendard"/>
              </a:rPr>
              <a:t>설치와 복잡한 설정 없이 작곡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212848"/>
            <a:ext cx="2487168" cy="28803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441448"/>
            <a:ext cx="2084831" cy="5943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65E6C4"/>
                </a:solidFill>
                <a:latin typeface="Pretendard"/>
              </a:rPr>
              <a:t>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310128"/>
            <a:ext cx="2029968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6FAFF"/>
                </a:solidFill>
                <a:latin typeface="Pretendard"/>
              </a:rPr>
              <a:t>협업 속도 향상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913632"/>
            <a:ext cx="1865376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EABC0"/>
                </a:solidFill>
                <a:latin typeface="Pretendard"/>
              </a:rPr>
              <a:t>파일 전달 대신 같은 프로젝트를 편집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2212848"/>
            <a:ext cx="2487168" cy="28803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441448"/>
            <a:ext cx="2084831" cy="5943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8CFB65"/>
                </a:solidFill>
                <a:latin typeface="Pretendard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310128"/>
            <a:ext cx="2029968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6FAFF"/>
                </a:solidFill>
                <a:latin typeface="Pretendard"/>
              </a:rPr>
              <a:t>피드백의 구체화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913632"/>
            <a:ext cx="1865376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EABC0"/>
                </a:solidFill>
                <a:latin typeface="Pretendard"/>
              </a:rPr>
              <a:t>파형과 마디 기준으로 의견 교환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2212848"/>
            <a:ext cx="2487168" cy="2880360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29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2441448"/>
            <a:ext cx="2084831" cy="5943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65E6C4"/>
                </a:solidFill>
                <a:latin typeface="Pretendard"/>
              </a:rPr>
              <a:t>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3310128"/>
            <a:ext cx="2029968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6FAFF"/>
                </a:solidFill>
                <a:latin typeface="Pretendard"/>
              </a:rPr>
              <a:t>창작 생태계 형성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913632"/>
            <a:ext cx="1865376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EABC0"/>
                </a:solidFill>
                <a:latin typeface="Pretendard"/>
              </a:rPr>
              <a:t>공유곡이 새 작업과 파트 모집으로 연결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577840"/>
            <a:ext cx="7726679" cy="4114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65E6C4"/>
                </a:solidFill>
                <a:latin typeface="Pretendard"/>
              </a:rPr>
              <a:t>아이디어 → 스케치 → 협업 → 공유 → 다시 창작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00" b="1">
                <a:solidFill>
                  <a:srgbClr val="9EABC0"/>
                </a:solidFill>
                <a:latin typeface="Pretendard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56632" y="960120"/>
            <a:ext cx="2075688" cy="310896"/>
          </a:xfrm>
          <a:prstGeom prst="roundRect">
            <a:avLst/>
          </a:prstGeom>
          <a:solidFill>
            <a:srgbClr val="172235"/>
          </a:solidFill>
          <a:ln w="10160">
            <a:solidFill>
              <a:srgbClr val="65E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56632" y="960120"/>
            <a:ext cx="2075688" cy="31089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5E6C4"/>
                </a:solidFill>
                <a:latin typeface="Pretendar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02952" cy="1371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3500" b="1">
                <a:solidFill>
                  <a:srgbClr val="F6FAFF"/>
                </a:solidFill>
                <a:latin typeface="Pretendard"/>
              </a:rPr>
              <a:t>음악을 만드는 과정이
혼자가 아니도록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529584"/>
            <a:ext cx="4507992" cy="56692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8CFB65"/>
                </a:solidFill>
                <a:latin typeface="Pretendard"/>
              </a:rPr>
              <a:t>Song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4651560"/>
            <a:ext cx="54472" cy="133486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9563" y="4549396"/>
            <a:ext cx="54472" cy="33781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53047" y="4655642"/>
            <a:ext cx="54472" cy="12532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66530" y="4640176"/>
            <a:ext cx="54472" cy="15625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0014" y="4641779"/>
            <a:ext cx="54472" cy="15304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497" y="4525763"/>
            <a:ext cx="54472" cy="385080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6981" y="4613750"/>
            <a:ext cx="54472" cy="20910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465" y="4527525"/>
            <a:ext cx="54472" cy="38155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33948" y="4626577"/>
            <a:ext cx="54472" cy="18345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47432" y="4638314"/>
            <a:ext cx="54472" cy="15997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60915" y="4642190"/>
            <a:ext cx="54472" cy="152227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74399" y="4565706"/>
            <a:ext cx="54472" cy="30519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87882" y="4583940"/>
            <a:ext cx="54472" cy="26872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01366" y="4530355"/>
            <a:ext cx="54472" cy="37589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14850" y="4585633"/>
            <a:ext cx="54472" cy="26534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8333" y="4603284"/>
            <a:ext cx="54472" cy="230038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817" y="4661025"/>
            <a:ext cx="54472" cy="11455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55300" y="4612437"/>
            <a:ext cx="54472" cy="21173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68784" y="4573125"/>
            <a:ext cx="54472" cy="29035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82267" y="4555605"/>
            <a:ext cx="54472" cy="32539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95751" y="4545777"/>
            <a:ext cx="54472" cy="34505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09235" y="4590552"/>
            <a:ext cx="54472" cy="25550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22718" y="4619272"/>
            <a:ext cx="54472" cy="19806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36202" y="4652519"/>
            <a:ext cx="54472" cy="13156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49685" y="4586598"/>
            <a:ext cx="54472" cy="26341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63169" y="4594352"/>
            <a:ext cx="54472" cy="247903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76652" y="4519813"/>
            <a:ext cx="54472" cy="39698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90136" y="4601925"/>
            <a:ext cx="54472" cy="23275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03620" y="4571187"/>
            <a:ext cx="54472" cy="29423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103" y="4652556"/>
            <a:ext cx="54472" cy="13149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30587" y="4622338"/>
            <a:ext cx="54472" cy="191930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44070" y="4633737"/>
            <a:ext cx="54472" cy="169132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57554" y="4516512"/>
            <a:ext cx="54472" cy="40358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71037" y="4631913"/>
            <a:ext cx="54472" cy="172781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84521" y="4530219"/>
            <a:ext cx="54472" cy="37616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98005" y="4653993"/>
            <a:ext cx="54472" cy="128621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011488" y="4655640"/>
            <a:ext cx="54472" cy="125326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124972" y="4660861"/>
            <a:ext cx="54472" cy="11488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238455" y="4537952"/>
            <a:ext cx="54472" cy="360703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51939" y="4657844"/>
            <a:ext cx="54472" cy="12091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65422" y="4507824"/>
            <a:ext cx="54472" cy="420959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78906" y="4649799"/>
            <a:ext cx="54472" cy="13700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692390" y="4605684"/>
            <a:ext cx="54472" cy="22523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805873" y="4660556"/>
            <a:ext cx="54472" cy="11549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19357" y="4578883"/>
            <a:ext cx="54472" cy="27884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32840" y="4626221"/>
            <a:ext cx="54472" cy="184165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146324" y="4510006"/>
            <a:ext cx="54472" cy="416594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59807" y="4612713"/>
            <a:ext cx="54472" cy="211180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73291" y="4568104"/>
            <a:ext cx="54472" cy="300399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486775" y="4648781"/>
            <a:ext cx="54472" cy="13904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600258" y="4628306"/>
            <a:ext cx="54472" cy="17999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713742" y="4612024"/>
            <a:ext cx="54472" cy="212558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827225" y="4535515"/>
            <a:ext cx="54472" cy="36557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940709" y="4574630"/>
            <a:ext cx="54472" cy="287347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54192" y="4552266"/>
            <a:ext cx="54472" cy="332075"/>
          </a:xfrm>
          <a:prstGeom prst="roundRect">
            <a:avLst/>
          </a:prstGeom>
          <a:solidFill>
            <a:srgbClr val="65E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67676" y="4612041"/>
            <a:ext cx="54472" cy="212524"/>
          </a:xfrm>
          <a:prstGeom prst="roundRect">
            <a:avLst/>
          </a:prstGeom>
          <a:solidFill>
            <a:srgbClr val="8CF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5321808"/>
            <a:ext cx="224028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6FAFF"/>
                </a:solidFill>
                <a:latin typeface="Pretendard"/>
              </a:rPr>
              <a:t>Q &amp; 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5961888"/>
            <a:ext cx="432511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9EABC0"/>
                </a:solidFill>
                <a:latin typeface="Pretendard"/>
              </a:rPr>
              <a:t>작곡 · 협업 · 공유 · 에어 악기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